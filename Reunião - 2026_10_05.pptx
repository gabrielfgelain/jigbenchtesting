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c96005d0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c96005d0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cc96005d0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40abed357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40abed357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d40abed357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c96005d0d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c96005d0d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cc96005d0d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35725badb14bee40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35725badb14bee40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h35725badb14bee40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c96005d0d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c96005d0d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cc96005d0d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2763cc267dd93ef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2763cc267dd93ef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h2763cc267dd93ef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35725badb14bee40_2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35725badb14bee40_2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h35725badb14bee40_2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6f7df10687a5590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h6f7df10687a5590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h6f7df10687a5590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6f7df10687a55902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6f7df10687a55902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h6f7df10687a55902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6f7df10687a55902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h6f7df10687a55902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h6f7df10687a55902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6f7df10687a55902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6f7df10687a55902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h6f7df10687a55902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6f7df10687a55902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h6f7df10687a55902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h6f7df10687a55902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6f7df10687a55902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h6f7df10687a55902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h6f7df10687a55902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35725badb14bee40_2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h35725badb14bee40_2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h35725badb14bee40_2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6f7df10687a55902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h6f7df10687a55902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h6f7df10687a55902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6f7df10687a55902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6f7df10687a55902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h6f7df10687a55902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6f7df10687a55902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h6f7df10687a55902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6f7df10687a55902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6f7df10687a55902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h6f7df10687a55902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h6f7df10687a55902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h35725badb14bee40_2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h35725badb14bee40_2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h35725badb14bee40_2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35725badb14bee40_2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h35725badb14bee40_2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h35725badb14bee40_2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35725badb14bee40_2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h35725badb14bee40_2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h35725badb14bee40_2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ceb35622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cceb35622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cceb35622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c96005d0d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cc96005d0d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cc96005d0d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ceb356224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cceb356224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cceb356224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>
  <p:cSld name="Slide de Título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5084583"/>
            <a:ext cx="9144000" cy="908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descr="Brasao_UFSC.png"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1200" y="252374"/>
            <a:ext cx="1156013" cy="12488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bmetro.png" id="16" name="Google Shape;1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0857" y="583556"/>
            <a:ext cx="1923191" cy="5864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LIAE_FC_SL.png" id="17" name="Google Shape;1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281" y="563777"/>
            <a:ext cx="1721508" cy="6260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2"/>
          <p:cNvCxnSpPr/>
          <p:nvPr/>
        </p:nvCxnSpPr>
        <p:spPr>
          <a:xfrm>
            <a:off x="0" y="4653136"/>
            <a:ext cx="12185999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" name="Google Shape;19;p2"/>
          <p:cNvCxnSpPr/>
          <p:nvPr/>
        </p:nvCxnSpPr>
        <p:spPr>
          <a:xfrm>
            <a:off x="0" y="4869160"/>
            <a:ext cx="12185999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" name="Google Shape;20;p2"/>
          <p:cNvSpPr txBox="1"/>
          <p:nvPr>
            <p:ph type="title"/>
          </p:nvPr>
        </p:nvSpPr>
        <p:spPr>
          <a:xfrm>
            <a:off x="1547795" y="3911344"/>
            <a:ext cx="9090410" cy="645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4721400" y="64983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2" name="Google Shape;2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35116" y="422415"/>
            <a:ext cx="2235683" cy="90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382274" y="29147"/>
            <a:ext cx="10705726" cy="7811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382273" y="1065222"/>
            <a:ext cx="11439739" cy="4928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560"/>
              <a:buFont typeface="Courier New"/>
              <a:buChar char="o"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052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ts val="1920"/>
              <a:buFont typeface="Courier New"/>
              <a:buChar char="o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052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92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052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ts val="192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052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92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907881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_LIAE_FC_SL.png"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14000" y="740920"/>
            <a:ext cx="608013" cy="222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Google Shape;28;p3"/>
          <p:cNvCxnSpPr/>
          <p:nvPr/>
        </p:nvCxnSpPr>
        <p:spPr>
          <a:xfrm rot="10800000">
            <a:off x="360000" y="812357"/>
            <a:ext cx="10728000" cy="0"/>
          </a:xfrm>
          <a:prstGeom prst="straightConnector1">
            <a:avLst/>
          </a:prstGeom>
          <a:noFill/>
          <a:ln cap="flat" cmpd="sng" w="38100">
            <a:solidFill>
              <a:srgbClr val="29408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" name="Google Shape;29;p3"/>
          <p:cNvCxnSpPr/>
          <p:nvPr/>
        </p:nvCxnSpPr>
        <p:spPr>
          <a:xfrm rot="10800000">
            <a:off x="360000" y="883795"/>
            <a:ext cx="10728000" cy="0"/>
          </a:xfrm>
          <a:prstGeom prst="straightConnector1">
            <a:avLst/>
          </a:prstGeom>
          <a:noFill/>
          <a:ln cap="flat" cmpd="sng" w="38100">
            <a:solidFill>
              <a:srgbClr val="E3893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" name="Google Shape;30;p3"/>
          <p:cNvCxnSpPr/>
          <p:nvPr/>
        </p:nvCxnSpPr>
        <p:spPr>
          <a:xfrm rot="10800000">
            <a:off x="360000" y="6174922"/>
            <a:ext cx="114660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" name="Google Shape;31;p3"/>
          <p:cNvCxnSpPr/>
          <p:nvPr/>
        </p:nvCxnSpPr>
        <p:spPr>
          <a:xfrm rot="10800000">
            <a:off x="6087212" y="6174922"/>
            <a:ext cx="5734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>
  <p:cSld name="Encerramento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1524000" y="5084583"/>
            <a:ext cx="9144000" cy="908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34" name="Google Shape;34;p4"/>
          <p:cNvCxnSpPr/>
          <p:nvPr/>
        </p:nvCxnSpPr>
        <p:spPr>
          <a:xfrm>
            <a:off x="0" y="4653136"/>
            <a:ext cx="12185999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" name="Google Shape;35;p4"/>
          <p:cNvCxnSpPr/>
          <p:nvPr/>
        </p:nvCxnSpPr>
        <p:spPr>
          <a:xfrm>
            <a:off x="0" y="4869160"/>
            <a:ext cx="12185999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" name="Google Shape;36;p4"/>
          <p:cNvSpPr txBox="1"/>
          <p:nvPr>
            <p:ph type="title"/>
          </p:nvPr>
        </p:nvSpPr>
        <p:spPr>
          <a:xfrm>
            <a:off x="1547795" y="3911344"/>
            <a:ext cx="9090410" cy="645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0" type="dt"/>
          </p:nvPr>
        </p:nvSpPr>
        <p:spPr>
          <a:xfrm>
            <a:off x="4721400" y="649832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Brasao_UFSC.png" id="38" name="Google Shape;3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1200" y="252374"/>
            <a:ext cx="1156013" cy="12488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bmetro.png" id="39" name="Google Shape;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0857" y="583556"/>
            <a:ext cx="1923191" cy="5864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LIAE_FC_SL.png" id="40" name="Google Shape;4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281" y="563777"/>
            <a:ext cx="1721508" cy="626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35116" y="422415"/>
            <a:ext cx="2235683" cy="90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ção">
  <p:cSld name="Transição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1524000" y="3846761"/>
            <a:ext cx="9090410" cy="908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44" name="Google Shape;44;p5"/>
          <p:cNvCxnSpPr/>
          <p:nvPr/>
        </p:nvCxnSpPr>
        <p:spPr>
          <a:xfrm>
            <a:off x="6000" y="3389545"/>
            <a:ext cx="12185999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" name="Google Shape;45;p5"/>
          <p:cNvCxnSpPr/>
          <p:nvPr/>
        </p:nvCxnSpPr>
        <p:spPr>
          <a:xfrm>
            <a:off x="6000" y="3582057"/>
            <a:ext cx="12185999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" name="Google Shape;46;p5"/>
          <p:cNvSpPr txBox="1"/>
          <p:nvPr>
            <p:ph type="title"/>
          </p:nvPr>
        </p:nvSpPr>
        <p:spPr>
          <a:xfrm>
            <a:off x="1524000" y="2127661"/>
            <a:ext cx="9090410" cy="1048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  <a:defRPr b="1" sz="36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ítulo e Conteúdo">
  <p:cSld name="2_Título e Conteúd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382274" y="29147"/>
            <a:ext cx="10705726" cy="7811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382274" y="1065222"/>
            <a:ext cx="5580000" cy="4928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Courier New"/>
              <a:buChar char="o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052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ts val="1920"/>
              <a:buFont typeface="Courier New"/>
              <a:buChar char="o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052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92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052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ts val="192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052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92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907881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_LIAE_FC_SL.png" id="51" name="Google Shape;5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14000" y="740920"/>
            <a:ext cx="608013" cy="222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6"/>
          <p:cNvCxnSpPr/>
          <p:nvPr/>
        </p:nvCxnSpPr>
        <p:spPr>
          <a:xfrm rot="10800000">
            <a:off x="360000" y="812357"/>
            <a:ext cx="10728000" cy="0"/>
          </a:xfrm>
          <a:prstGeom prst="straightConnector1">
            <a:avLst/>
          </a:prstGeom>
          <a:noFill/>
          <a:ln cap="flat" cmpd="sng" w="38100">
            <a:solidFill>
              <a:srgbClr val="29408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" name="Google Shape;53;p6"/>
          <p:cNvCxnSpPr/>
          <p:nvPr/>
        </p:nvCxnSpPr>
        <p:spPr>
          <a:xfrm rot="10800000">
            <a:off x="360000" y="883795"/>
            <a:ext cx="10728000" cy="0"/>
          </a:xfrm>
          <a:prstGeom prst="straightConnector1">
            <a:avLst/>
          </a:prstGeom>
          <a:noFill/>
          <a:ln cap="flat" cmpd="sng" w="38100">
            <a:solidFill>
              <a:srgbClr val="E3893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" name="Google Shape;54;p6"/>
          <p:cNvCxnSpPr/>
          <p:nvPr/>
        </p:nvCxnSpPr>
        <p:spPr>
          <a:xfrm rot="10800000">
            <a:off x="360000" y="6174922"/>
            <a:ext cx="11466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" name="Google Shape;55;p6"/>
          <p:cNvSpPr txBox="1"/>
          <p:nvPr>
            <p:ph idx="2" type="body"/>
          </p:nvPr>
        </p:nvSpPr>
        <p:spPr>
          <a:xfrm>
            <a:off x="6229635" y="1065221"/>
            <a:ext cx="5580000" cy="4928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Courier New"/>
              <a:buChar char="o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052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ts val="1920"/>
              <a:buFont typeface="Courier New"/>
              <a:buChar char="o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052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92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052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ts val="192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052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92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ítulo e Conteúdo">
  <p:cSld name="3_Título e Conteúdo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type="title"/>
          </p:nvPr>
        </p:nvSpPr>
        <p:spPr>
          <a:xfrm>
            <a:off x="382274" y="29147"/>
            <a:ext cx="10705726" cy="7811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  <a:defRPr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382273" y="4098664"/>
            <a:ext cx="11439739" cy="1894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560"/>
              <a:buFont typeface="Courier New"/>
              <a:buChar char="o"/>
              <a:defRPr sz="3200"/>
            </a:lvl1pPr>
            <a:lvl2pPr indent="-35052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ts val="1920"/>
              <a:buFont typeface="Courier New"/>
              <a:buChar char="o"/>
              <a:defRPr sz="2400"/>
            </a:lvl2pPr>
            <a:lvl3pPr indent="-35052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920"/>
              <a:buChar char="•"/>
              <a:defRPr sz="2400"/>
            </a:lvl3pPr>
            <a:lvl4pPr indent="-35052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ts val="1920"/>
              <a:buChar char="•"/>
              <a:defRPr sz="2400"/>
            </a:lvl4pPr>
            <a:lvl5pPr indent="-35052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920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907881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2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LOGO_LIAE_FC_SL.png" id="60" name="Google Shape;6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14000" y="740920"/>
            <a:ext cx="608013" cy="222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7"/>
          <p:cNvCxnSpPr/>
          <p:nvPr/>
        </p:nvCxnSpPr>
        <p:spPr>
          <a:xfrm rot="10800000">
            <a:off x="360000" y="812357"/>
            <a:ext cx="10728000" cy="0"/>
          </a:xfrm>
          <a:prstGeom prst="straightConnector1">
            <a:avLst/>
          </a:prstGeom>
          <a:noFill/>
          <a:ln cap="flat" cmpd="sng" w="38100">
            <a:solidFill>
              <a:srgbClr val="29408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" name="Google Shape;62;p7"/>
          <p:cNvCxnSpPr/>
          <p:nvPr/>
        </p:nvCxnSpPr>
        <p:spPr>
          <a:xfrm rot="10800000">
            <a:off x="360000" y="883795"/>
            <a:ext cx="10728000" cy="0"/>
          </a:xfrm>
          <a:prstGeom prst="straightConnector1">
            <a:avLst/>
          </a:prstGeom>
          <a:noFill/>
          <a:ln cap="flat" cmpd="sng" w="38100">
            <a:solidFill>
              <a:srgbClr val="E38933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" name="Google Shape;63;p7"/>
          <p:cNvCxnSpPr/>
          <p:nvPr/>
        </p:nvCxnSpPr>
        <p:spPr>
          <a:xfrm rot="10800000">
            <a:off x="360000" y="6174922"/>
            <a:ext cx="114660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" name="Google Shape;64;p7"/>
          <p:cNvCxnSpPr/>
          <p:nvPr/>
        </p:nvCxnSpPr>
        <p:spPr>
          <a:xfrm rot="10800000">
            <a:off x="6087212" y="6174922"/>
            <a:ext cx="5734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type="title"/>
          </p:nvPr>
        </p:nvSpPr>
        <p:spPr>
          <a:xfrm>
            <a:off x="1547800" y="2482200"/>
            <a:ext cx="9090300" cy="140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imes New Roman"/>
              <a:buNone/>
            </a:pPr>
            <a:r>
              <a:rPr b="1" lang="pt-BR" sz="2970"/>
              <a:t>E-cap Reliability</a:t>
            </a:r>
            <a:endParaRPr b="1" sz="297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imes New Roman"/>
              <a:buNone/>
            </a:pPr>
            <a:r>
              <a:rPr lang="pt-BR" sz="2670"/>
              <a:t>Overview and preliminary results</a:t>
            </a:r>
            <a:endParaRPr sz="2670"/>
          </a:p>
        </p:txBody>
      </p:sp>
      <p:sp>
        <p:nvSpPr>
          <p:cNvPr id="70" name="Google Shape;70;p8"/>
          <p:cNvSpPr txBox="1"/>
          <p:nvPr>
            <p:ph idx="10" type="dt"/>
          </p:nvPr>
        </p:nvSpPr>
        <p:spPr>
          <a:xfrm>
            <a:off x="4534850" y="5208980"/>
            <a:ext cx="3116400" cy="1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pt-BR"/>
              <a:t>Gabriel Thaler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pt-BR"/>
              <a:t>Gabriel F. Gelain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pt-BR"/>
              <a:t>Edson Sorato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October 5th,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Overview</a:t>
            </a:r>
            <a:endParaRPr/>
          </a:p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382275" y="1065225"/>
            <a:ext cx="10115100" cy="21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2100"/>
              <a:t>Context</a:t>
            </a:r>
            <a:endParaRPr b="1" sz="2100"/>
          </a:p>
          <a:p>
            <a:pPr indent="-3492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o"/>
            </a:pPr>
            <a:r>
              <a:rPr lang="pt-BR" sz="1900"/>
              <a:t>Capacitors are one of the main concerns in inverter reliability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o"/>
            </a:pPr>
            <a:r>
              <a:rPr lang="pt-BR" sz="1900"/>
              <a:t>Health indicators (capacitance and series resistance) can’t be measured online or without additional hardware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900"/>
              <a:buChar char="o"/>
            </a:pPr>
            <a:r>
              <a:rPr lang="pt-BR" sz="1900"/>
              <a:t>Machine learning (ML) can be used to estimate the indicators using other measurements</a:t>
            </a:r>
            <a:endParaRPr sz="1900"/>
          </a:p>
        </p:txBody>
      </p:sp>
      <p:sp>
        <p:nvSpPr>
          <p:cNvPr id="78" name="Google Shape;78;p9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9" name="Google Shape;79;p9"/>
          <p:cNvSpPr txBox="1"/>
          <p:nvPr/>
        </p:nvSpPr>
        <p:spPr>
          <a:xfrm>
            <a:off x="6242700" y="3234150"/>
            <a:ext cx="4770000" cy="2537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AQUI FOTO DE INVERSOR E CAPACITORES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" name="Google Shape;80;p9" title="vida_util_capacit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600" y="3251025"/>
            <a:ext cx="5316601" cy="25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Overview</a:t>
            </a:r>
            <a:endParaRPr/>
          </a:p>
        </p:txBody>
      </p:sp>
      <p:sp>
        <p:nvSpPr>
          <p:cNvPr id="87" name="Google Shape;87;p10"/>
          <p:cNvSpPr txBox="1"/>
          <p:nvPr>
            <p:ph idx="1" type="body"/>
          </p:nvPr>
        </p:nvSpPr>
        <p:spPr>
          <a:xfrm>
            <a:off x="382275" y="1065225"/>
            <a:ext cx="11303700" cy="21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3300"/>
              <a:t>Objective</a:t>
            </a:r>
            <a:endParaRPr b="1" sz="3300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3100"/>
              <a:t>Develop noninvasive, inverter-embedded methods for monitoring capacitor degradation and estimating remaining useful life.</a:t>
            </a:r>
            <a:endParaRPr sz="3100"/>
          </a:p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382275" y="3378100"/>
            <a:ext cx="11439900" cy="266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pt-BR" sz="2100"/>
              <a:t>Market value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o"/>
            </a:pPr>
            <a:r>
              <a:rPr lang="pt-BR" sz="1900"/>
              <a:t>Cost reduction opportunities: the reliability estimation can provide insights on the behavior and impact of the capacitor aging during operation:</a:t>
            </a:r>
            <a:endParaRPr sz="1900"/>
          </a:p>
          <a:p>
            <a:pPr indent="-349250" lvl="1" marL="9144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o"/>
            </a:pPr>
            <a:r>
              <a:rPr lang="pt-BR" sz="1900"/>
              <a:t>Know-how to improve design/spec</a:t>
            </a:r>
            <a:endParaRPr sz="1900"/>
          </a:p>
          <a:p>
            <a:pPr indent="-349250" lvl="1" marL="9144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o"/>
            </a:pPr>
            <a:r>
              <a:rPr lang="pt-BR" sz="1900"/>
              <a:t>Field evaluation/maintenance</a:t>
            </a:r>
            <a:endParaRPr sz="1900"/>
          </a:p>
          <a:p>
            <a:pPr indent="-349250" lvl="0" marL="4572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900"/>
              <a:buChar char="o"/>
            </a:pPr>
            <a:r>
              <a:rPr lang="pt-BR" sz="1900"/>
              <a:t>Predictive maintenance (new inverter feature): estimating the remaining useful life of the capacitor can be used to avoid catastrophic failure of the inverter due to capacitor degradation.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Project timeline - past activities</a:t>
            </a:r>
            <a:endParaRPr/>
          </a:p>
        </p:txBody>
      </p:sp>
      <p:sp>
        <p:nvSpPr>
          <p:cNvPr id="96" name="Google Shape;96;p11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7" name="Google Shape;97;p11"/>
          <p:cNvSpPr/>
          <p:nvPr/>
        </p:nvSpPr>
        <p:spPr>
          <a:xfrm>
            <a:off x="663250" y="3163438"/>
            <a:ext cx="2303100" cy="5130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Review &amp; planning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1"/>
          <p:cNvSpPr/>
          <p:nvPr/>
        </p:nvSpPr>
        <p:spPr>
          <a:xfrm>
            <a:off x="2819725" y="3163438"/>
            <a:ext cx="3003300" cy="5130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Capacitor jig prototype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1"/>
          <p:cNvSpPr/>
          <p:nvPr/>
        </p:nvSpPr>
        <p:spPr>
          <a:xfrm>
            <a:off x="5659250" y="3163438"/>
            <a:ext cx="2870100" cy="513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Experimental tests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1"/>
          <p:cNvSpPr/>
          <p:nvPr/>
        </p:nvSpPr>
        <p:spPr>
          <a:xfrm>
            <a:off x="8818725" y="2773150"/>
            <a:ext cx="3003300" cy="5130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ML validation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8810406" y="3566510"/>
            <a:ext cx="3003300" cy="5130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Embedded measurement evaluation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1"/>
          <p:cNvSpPr/>
          <p:nvPr/>
        </p:nvSpPr>
        <p:spPr>
          <a:xfrm rot="2699016">
            <a:off x="8421099" y="3667143"/>
            <a:ext cx="741401" cy="309289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1"/>
          <p:cNvSpPr/>
          <p:nvPr/>
        </p:nvSpPr>
        <p:spPr>
          <a:xfrm rot="-2700984">
            <a:off x="8412124" y="2881718"/>
            <a:ext cx="741401" cy="309289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1"/>
          <p:cNvSpPr txBox="1"/>
          <p:nvPr/>
        </p:nvSpPr>
        <p:spPr>
          <a:xfrm>
            <a:off x="571914" y="2831878"/>
            <a:ext cx="93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03/2025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1"/>
          <p:cNvSpPr txBox="1"/>
          <p:nvPr/>
        </p:nvSpPr>
        <p:spPr>
          <a:xfrm>
            <a:off x="2720220" y="3592872"/>
            <a:ext cx="93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/2025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>
            <a:off x="5558564" y="2831878"/>
            <a:ext cx="93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/2025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7" name="Google Shape;107;p11"/>
          <p:cNvCxnSpPr/>
          <p:nvPr/>
        </p:nvCxnSpPr>
        <p:spPr>
          <a:xfrm>
            <a:off x="543306" y="3854623"/>
            <a:ext cx="0" cy="195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1"/>
          <p:cNvCxnSpPr/>
          <p:nvPr/>
        </p:nvCxnSpPr>
        <p:spPr>
          <a:xfrm>
            <a:off x="2824950" y="2157075"/>
            <a:ext cx="0" cy="950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1"/>
          <p:cNvCxnSpPr/>
          <p:nvPr/>
        </p:nvCxnSpPr>
        <p:spPr>
          <a:xfrm>
            <a:off x="5660750" y="3788848"/>
            <a:ext cx="0" cy="1004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1"/>
          <p:cNvCxnSpPr/>
          <p:nvPr/>
        </p:nvCxnSpPr>
        <p:spPr>
          <a:xfrm>
            <a:off x="8818925" y="1867050"/>
            <a:ext cx="0" cy="772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1"/>
          <p:cNvCxnSpPr/>
          <p:nvPr/>
        </p:nvCxnSpPr>
        <p:spPr>
          <a:xfrm>
            <a:off x="8818725" y="4193198"/>
            <a:ext cx="0" cy="89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2" name="Google Shape;11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045" y="3977775"/>
            <a:ext cx="2303100" cy="1125598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" name="Google Shape;11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9225" y="1081850"/>
            <a:ext cx="1545075" cy="16958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" name="Google Shape;114;p11"/>
          <p:cNvSpPr txBox="1"/>
          <p:nvPr/>
        </p:nvSpPr>
        <p:spPr>
          <a:xfrm>
            <a:off x="8818714" y="3224028"/>
            <a:ext cx="93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/2025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1"/>
          <p:cNvSpPr txBox="1"/>
          <p:nvPr/>
        </p:nvSpPr>
        <p:spPr>
          <a:xfrm>
            <a:off x="382300" y="950125"/>
            <a:ext cx="2382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Team: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LIAE: 1 PhD student</a:t>
            </a:r>
            <a:b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1 undergraduate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Nidec: 1 senior researcher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1"/>
          <p:cNvSpPr txBox="1"/>
          <p:nvPr/>
        </p:nvSpPr>
        <p:spPr>
          <a:xfrm>
            <a:off x="571925" y="3707525"/>
            <a:ext cx="2568300" cy="22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91425" wrap="square" tIns="91425">
            <a:noAutofit/>
          </a:bodyPr>
          <a:lstStyle/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Capacitance and series resistance are the main indicators of degradation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features and frequency spectrum of DC-link voltage can be used to estimate the indicators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models are useful for estimation, but require large amounts of data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2860127" y="1935325"/>
            <a:ext cx="26985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0000" spcFirstLastPara="1" rIns="91425" wrap="square" tIns="91425">
            <a:noAutofit/>
          </a:bodyPr>
          <a:lstStyle/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a variable-capacitance test jig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Modified inverter to connect to the jig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5691250" y="3753050"/>
            <a:ext cx="26985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91425" wrap="square" tIns="91425">
            <a:noAutofit/>
          </a:bodyPr>
          <a:lstStyle/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the inverter to a compressor motor + brake to control load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 tests at different speeds and loads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1"/>
          <p:cNvSpPr txBox="1"/>
          <p:nvPr/>
        </p:nvSpPr>
        <p:spPr>
          <a:xfrm>
            <a:off x="8863029" y="1454538"/>
            <a:ext cx="26985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0000" spcFirstLastPara="1" rIns="91425" wrap="square" tIns="91425">
            <a:noAutofit/>
          </a:bodyPr>
          <a:lstStyle/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ML models for estimating capacitance based on directly measurable quantities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1"/>
          <p:cNvSpPr txBox="1"/>
          <p:nvPr/>
        </p:nvSpPr>
        <p:spPr>
          <a:xfrm>
            <a:off x="8851950" y="4193200"/>
            <a:ext cx="28701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91425" wrap="square" tIns="91425">
            <a:noAutofit/>
          </a:bodyPr>
          <a:lstStyle/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the embedded DAQ for DC-link voltage measurement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Compared against a high-precision voltmeter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Research questions</a:t>
            </a:r>
            <a:endParaRPr/>
          </a:p>
        </p:txBody>
      </p:sp>
      <p:sp>
        <p:nvSpPr>
          <p:cNvPr id="127" name="Google Shape;127;p12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" name="Google Shape;128;p12"/>
          <p:cNvSpPr/>
          <p:nvPr/>
        </p:nvSpPr>
        <p:spPr>
          <a:xfrm>
            <a:off x="4547850" y="940090"/>
            <a:ext cx="3096300" cy="465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Times New Roman"/>
                <a:ea typeface="Times New Roman"/>
                <a:cs typeface="Times New Roman"/>
                <a:sym typeface="Times New Roman"/>
              </a:rPr>
              <a:t>Capacitance degradation monitoring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9" name="Google Shape;129;p12"/>
          <p:cNvGrpSpPr/>
          <p:nvPr/>
        </p:nvGrpSpPr>
        <p:grpSpPr>
          <a:xfrm>
            <a:off x="227186" y="1469975"/>
            <a:ext cx="3854746" cy="3867600"/>
            <a:chOff x="847425" y="1469971"/>
            <a:chExt cx="3310500" cy="3867600"/>
          </a:xfrm>
        </p:grpSpPr>
        <p:sp>
          <p:nvSpPr>
            <p:cNvPr id="130" name="Google Shape;130;p12"/>
            <p:cNvSpPr/>
            <p:nvPr/>
          </p:nvSpPr>
          <p:spPr>
            <a:xfrm>
              <a:off x="847425" y="1469971"/>
              <a:ext cx="3310500" cy="3867600"/>
            </a:xfrm>
            <a:prstGeom prst="rect">
              <a:avLst/>
            </a:prstGeom>
            <a:solidFill>
              <a:srgbClr val="A4C2F4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>
                  <a:latin typeface="Times New Roman"/>
                  <a:ea typeface="Times New Roman"/>
                  <a:cs typeface="Times New Roman"/>
                  <a:sym typeface="Times New Roman"/>
                </a:rPr>
                <a:t>Accelerated degradation tests</a:t>
              </a:r>
              <a:br>
                <a:rPr b="1" lang="pt-BR"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pt-BR">
                  <a:latin typeface="Times New Roman"/>
                  <a:ea typeface="Times New Roman"/>
                  <a:cs typeface="Times New Roman"/>
                  <a:sym typeface="Times New Roman"/>
                </a:rPr>
                <a:t>(electrical and thermal stress)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" name="Google Shape;131;p12"/>
            <p:cNvSpPr/>
            <p:nvPr/>
          </p:nvSpPr>
          <p:spPr>
            <a:xfrm>
              <a:off x="954525" y="2050921"/>
              <a:ext cx="3096300" cy="11439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RQ1: Which electrical parameters are sensitive to degradation</a:t>
              </a:r>
              <a:endParaRPr b="1" sz="13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72550" lvl="0" marL="180000" rtl="0" algn="just">
                <a:spcBef>
                  <a:spcPts val="0"/>
                </a:spcBef>
                <a:spcAft>
                  <a:spcPts val="0"/>
                </a:spcAft>
                <a:buSzPts val="1300"/>
                <a:buFont typeface="Times New Roman"/>
                <a:buChar char="●"/>
              </a:pPr>
              <a:r>
                <a:rPr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Capacitance?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72550" lvl="0" marL="180000" rtl="0" algn="just">
                <a:spcBef>
                  <a:spcPts val="0"/>
                </a:spcBef>
                <a:spcAft>
                  <a:spcPts val="0"/>
                </a:spcAft>
                <a:buSzPts val="1300"/>
                <a:buFont typeface="Times New Roman"/>
                <a:buChar char="●"/>
              </a:pPr>
              <a:r>
                <a:rPr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Equivalent series resistance?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72550" lvl="0" marL="180000" rtl="0" algn="just">
                <a:spcBef>
                  <a:spcPts val="0"/>
                </a:spcBef>
                <a:spcAft>
                  <a:spcPts val="0"/>
                </a:spcAft>
                <a:buSzPts val="1300"/>
                <a:buFont typeface="Times New Roman"/>
                <a:buChar char="●"/>
              </a:pPr>
              <a:r>
                <a:rPr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Both?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954525" y="3275821"/>
              <a:ext cx="3096300" cy="9273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RQ2: How do the indicators evolve with degradation time?</a:t>
              </a:r>
              <a:endParaRPr b="1" sz="13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72550" lvl="0" marL="180000" rtl="0" algn="just">
                <a:spcBef>
                  <a:spcPts val="0"/>
                </a:spcBef>
                <a:spcAft>
                  <a:spcPts val="0"/>
                </a:spcAft>
                <a:buSzPts val="1300"/>
                <a:buFont typeface="Times New Roman"/>
                <a:buChar char="●"/>
              </a:pPr>
              <a:r>
                <a:rPr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Degradation rate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72550" lvl="0" marL="180000" rtl="0" algn="just">
                <a:spcBef>
                  <a:spcPts val="0"/>
                </a:spcBef>
                <a:spcAft>
                  <a:spcPts val="0"/>
                </a:spcAft>
                <a:buSzPts val="1300"/>
                <a:buFont typeface="Times New Roman"/>
                <a:buChar char="●"/>
              </a:pPr>
              <a:r>
                <a:rPr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Degradation stage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954525" y="4284146"/>
              <a:ext cx="3096300" cy="927300"/>
            </a:xfrm>
            <a:prstGeom prst="rect">
              <a:avLst/>
            </a:prstGeom>
            <a:solidFill>
              <a:srgbClr val="C9DAF8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RQ3: How does the behavior vary across samples and specifications?</a:t>
              </a:r>
              <a:endParaRPr b="1" sz="13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72550" lvl="0" marL="180000" rtl="0" algn="just">
                <a:spcBef>
                  <a:spcPts val="0"/>
                </a:spcBef>
                <a:spcAft>
                  <a:spcPts val="0"/>
                </a:spcAft>
                <a:buSzPts val="1300"/>
                <a:buFont typeface="Times New Roman"/>
                <a:buChar char="●"/>
              </a:pPr>
              <a:r>
                <a:rPr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Same indicators?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72550" lvl="0" marL="180000" rtl="0" algn="just">
                <a:spcBef>
                  <a:spcPts val="0"/>
                </a:spcBef>
                <a:spcAft>
                  <a:spcPts val="0"/>
                </a:spcAft>
                <a:buSzPts val="1300"/>
                <a:buFont typeface="Times New Roman"/>
                <a:buChar char="●"/>
              </a:pPr>
              <a:r>
                <a:rPr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Similar trends?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4" name="Google Shape;134;p12"/>
          <p:cNvSpPr/>
          <p:nvPr/>
        </p:nvSpPr>
        <p:spPr>
          <a:xfrm>
            <a:off x="8110075" y="1469975"/>
            <a:ext cx="3854700" cy="24534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Emulated degradation via ESR</a:t>
            </a:r>
            <a:br>
              <a:rPr b="1"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(variable ESR jig)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8234775" y="2050925"/>
            <a:ext cx="3605400" cy="5439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latin typeface="Times New Roman"/>
                <a:ea typeface="Times New Roman"/>
                <a:cs typeface="Times New Roman"/>
                <a:sym typeface="Times New Roman"/>
              </a:rPr>
              <a:t>RQ7: Is ESR a relevant degradation indicator?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2550" lvl="0" marL="180000" rtl="0" algn="just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pt-BR" sz="1300">
                <a:latin typeface="Times New Roman"/>
                <a:ea typeface="Times New Roman"/>
                <a:cs typeface="Times New Roman"/>
                <a:sym typeface="Times New Roman"/>
              </a:rPr>
              <a:t>If not, proceed only with capacitance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8234750" y="2683736"/>
            <a:ext cx="3605400" cy="11538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latin typeface="Times New Roman"/>
                <a:ea typeface="Times New Roman"/>
                <a:cs typeface="Times New Roman"/>
                <a:sym typeface="Times New Roman"/>
              </a:rPr>
              <a:t>RQ8: Can ESR variance be reliably emulated and measured with current hardware and tests?</a:t>
            </a:r>
            <a:endParaRPr b="1"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2550" lvl="0" marL="180000" rtl="0" algn="just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pt-BR" sz="1300">
                <a:latin typeface="Times New Roman"/>
                <a:ea typeface="Times New Roman"/>
                <a:cs typeface="Times New Roman"/>
                <a:sym typeface="Times New Roman"/>
              </a:rPr>
              <a:t>If yes, then evaluate questions RQ4, RQ5 and RQ6 for ESR instead of capacitance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2550" lvl="0" marL="180000" rtl="0" algn="just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pt-BR" sz="1300">
                <a:latin typeface="Times New Roman"/>
                <a:ea typeface="Times New Roman"/>
                <a:cs typeface="Times New Roman"/>
                <a:sym typeface="Times New Roman"/>
              </a:rPr>
              <a:t>If no, redesign experiments and instrumentation.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7" name="Google Shape;137;p12"/>
          <p:cNvGrpSpPr/>
          <p:nvPr/>
        </p:nvGrpSpPr>
        <p:grpSpPr>
          <a:xfrm>
            <a:off x="4168621" y="1469975"/>
            <a:ext cx="3854746" cy="4081800"/>
            <a:chOff x="4297200" y="1469971"/>
            <a:chExt cx="3310500" cy="4081800"/>
          </a:xfrm>
        </p:grpSpPr>
        <p:sp>
          <p:nvSpPr>
            <p:cNvPr id="138" name="Google Shape;138;p12"/>
            <p:cNvSpPr/>
            <p:nvPr/>
          </p:nvSpPr>
          <p:spPr>
            <a:xfrm>
              <a:off x="4297200" y="1469971"/>
              <a:ext cx="3310500" cy="4081800"/>
            </a:xfrm>
            <a:prstGeom prst="rect">
              <a:avLst/>
            </a:prstGeom>
            <a:solidFill>
              <a:srgbClr val="F9CB9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>
                  <a:latin typeface="Times New Roman"/>
                  <a:ea typeface="Times New Roman"/>
                  <a:cs typeface="Times New Roman"/>
                  <a:sym typeface="Times New Roman"/>
                </a:rPr>
                <a:t>Emulated</a:t>
              </a:r>
              <a:r>
                <a:rPr b="1" lang="pt-BR">
                  <a:latin typeface="Times New Roman"/>
                  <a:ea typeface="Times New Roman"/>
                  <a:cs typeface="Times New Roman"/>
                  <a:sym typeface="Times New Roman"/>
                </a:rPr>
                <a:t> degradation via capacitance</a:t>
              </a:r>
              <a:br>
                <a:rPr b="1" lang="pt-BR"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pt-BR">
                  <a:latin typeface="Times New Roman"/>
                  <a:ea typeface="Times New Roman"/>
                  <a:cs typeface="Times New Roman"/>
                  <a:sym typeface="Times New Roman"/>
                </a:rPr>
                <a:t>(variable capacitance jig)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12"/>
            <p:cNvSpPr/>
            <p:nvPr/>
          </p:nvSpPr>
          <p:spPr>
            <a:xfrm>
              <a:off x="4404300" y="2050921"/>
              <a:ext cx="3096300" cy="966600"/>
            </a:xfrm>
            <a:prstGeom prst="rect">
              <a:avLst/>
            </a:prstGeom>
            <a:solidFill>
              <a:srgbClr val="FCE5CD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RQ4: Can changes in capacitance be estimated during inverter operation?</a:t>
              </a:r>
              <a:endParaRPr b="1" sz="13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72550" lvl="0" marL="180000" rtl="0" algn="just">
                <a:spcBef>
                  <a:spcPts val="0"/>
                </a:spcBef>
                <a:spcAft>
                  <a:spcPts val="0"/>
                </a:spcAft>
                <a:buSzPts val="1300"/>
                <a:buFont typeface="Times New Roman"/>
                <a:buChar char="●"/>
              </a:pPr>
              <a:r>
                <a:rPr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Develop estimation methods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72550" lvl="0" marL="180000" rtl="0" algn="just">
                <a:spcBef>
                  <a:spcPts val="0"/>
                </a:spcBef>
                <a:spcAft>
                  <a:spcPts val="0"/>
                </a:spcAft>
                <a:buSzPts val="1300"/>
                <a:buFont typeface="Times New Roman"/>
                <a:buChar char="●"/>
              </a:pPr>
              <a:r>
                <a:rPr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Use inverter electrical measurements</a:t>
              </a:r>
              <a:endParaRPr sz="13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12"/>
            <p:cNvSpPr/>
            <p:nvPr/>
          </p:nvSpPr>
          <p:spPr>
            <a:xfrm>
              <a:off x="4404300" y="3097395"/>
              <a:ext cx="3096300" cy="1143900"/>
            </a:xfrm>
            <a:prstGeom prst="rect">
              <a:avLst/>
            </a:prstGeom>
            <a:solidFill>
              <a:srgbClr val="FCE5CD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RQ5: How reliable is the estimation across operating conditions?</a:t>
              </a:r>
              <a:endParaRPr b="1" sz="13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72550" lvl="0" marL="18000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Times New Roman"/>
                <a:buChar char="●"/>
              </a:pPr>
              <a:r>
                <a:rPr lang="pt-BR" sz="13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Estimation error vs. capacitance</a:t>
              </a:r>
              <a:endPara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72550" lvl="0" marL="18000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Times New Roman"/>
                <a:buChar char="●"/>
              </a:pPr>
              <a:r>
                <a:rPr lang="pt-BR" sz="13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Different operating conditions</a:t>
              </a:r>
              <a:endPara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72550" lvl="0" marL="18000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Times New Roman"/>
                <a:buChar char="●"/>
              </a:pPr>
              <a:r>
                <a:rPr lang="pt-BR" sz="13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Hardware requirements</a:t>
              </a:r>
              <a:endPara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12"/>
            <p:cNvSpPr/>
            <p:nvPr/>
          </p:nvSpPr>
          <p:spPr>
            <a:xfrm>
              <a:off x="4404300" y="4321171"/>
              <a:ext cx="3096300" cy="1143900"/>
            </a:xfrm>
            <a:prstGeom prst="rect">
              <a:avLst/>
            </a:prstGeom>
            <a:solidFill>
              <a:srgbClr val="FCE5CD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00">
                  <a:latin typeface="Times New Roman"/>
                  <a:ea typeface="Times New Roman"/>
                  <a:cs typeface="Times New Roman"/>
                  <a:sym typeface="Times New Roman"/>
                </a:rPr>
                <a:t>RQ6: Can the tests be performed in simulations?</a:t>
              </a:r>
              <a:endParaRPr b="1" sz="13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72550" lvl="0" marL="18000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Times New Roman"/>
                <a:buChar char="●"/>
              </a:pPr>
              <a:r>
                <a:rPr lang="pt-BR" sz="13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Compare experimental results and simulated models</a:t>
              </a:r>
              <a:endPara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72550" lvl="0" marL="18000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Times New Roman"/>
                <a:buChar char="●"/>
              </a:pPr>
              <a:r>
                <a:rPr lang="pt-BR" sz="13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Simulate for different grid parameters</a:t>
              </a:r>
              <a:endParaRPr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42" name="Google Shape;142;p12"/>
          <p:cNvSpPr/>
          <p:nvPr/>
        </p:nvSpPr>
        <p:spPr>
          <a:xfrm>
            <a:off x="3353400" y="5616050"/>
            <a:ext cx="5485200" cy="4656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latin typeface="Times New Roman"/>
                <a:ea typeface="Times New Roman"/>
                <a:cs typeface="Times New Roman"/>
                <a:sym typeface="Times New Roman"/>
              </a:rPr>
              <a:t>Outcome: 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validated method for monitoring capacitor degradation during inverter operation and guidelines for feature tests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Accelerated testing: methods</a:t>
            </a:r>
            <a:endParaRPr/>
          </a:p>
        </p:txBody>
      </p:sp>
      <p:sp>
        <p:nvSpPr>
          <p:cNvPr id="149" name="Google Shape;149;p13"/>
          <p:cNvSpPr txBox="1"/>
          <p:nvPr>
            <p:ph idx="1" type="body"/>
          </p:nvPr>
        </p:nvSpPr>
        <p:spPr>
          <a:xfrm>
            <a:off x="382275" y="1065225"/>
            <a:ext cx="11439900" cy="492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1160" lvl="0" marL="457200" rtl="0" algn="l">
              <a:spcBef>
                <a:spcPts val="1000"/>
              </a:spcBef>
              <a:spcAft>
                <a:spcPts val="0"/>
              </a:spcAft>
              <a:buSzPts val="2560"/>
              <a:buChar char="o"/>
            </a:pPr>
            <a:r>
              <a:rPr lang="pt-BR"/>
              <a:t>Based on recent research we proceeding mainly two methods to quickly degrade the capacitor:</a:t>
            </a:r>
            <a:endParaRPr/>
          </a:p>
          <a:p>
            <a:pPr indent="-350520" lvl="1" marL="914400" rtl="0" algn="l">
              <a:spcBef>
                <a:spcPts val="0"/>
              </a:spcBef>
              <a:spcAft>
                <a:spcPts val="0"/>
              </a:spcAft>
              <a:buSzPts val="1920"/>
              <a:buChar char="o"/>
            </a:pPr>
            <a:r>
              <a:rPr lang="pt-BR"/>
              <a:t>Thermal stress - </a:t>
            </a:r>
            <a:r>
              <a:rPr lang="pt-BR"/>
              <a:t>using</a:t>
            </a:r>
            <a:r>
              <a:rPr lang="pt-BR"/>
              <a:t> an industrial oven, we </a:t>
            </a:r>
            <a:r>
              <a:rPr lang="pt-BR"/>
              <a:t>apply</a:t>
            </a:r>
            <a:r>
              <a:rPr lang="pt-BR"/>
              <a:t> about 130 </a:t>
            </a:r>
            <a:r>
              <a:rPr baseline="30000" lang="pt-BR" u="sng"/>
              <a:t>0</a:t>
            </a:r>
            <a:r>
              <a:rPr lang="pt-BR"/>
              <a:t>C of temperature at cycles of </a:t>
            </a:r>
            <a:r>
              <a:rPr lang="pt-BR"/>
              <a:t>approximately</a:t>
            </a:r>
            <a:r>
              <a:rPr lang="pt-BR"/>
              <a:t> 48 hours. At end of </a:t>
            </a:r>
            <a:r>
              <a:rPr lang="pt-BR"/>
              <a:t>each cycle we turn of the oven, decrease the temperature naturally, leave the specimens in a temperature controlled room and perform the measurements of C and ESR. Then we put the specimens back to oven and gradually increase the temperature.</a:t>
            </a:r>
            <a:endParaRPr/>
          </a:p>
          <a:p>
            <a:pPr indent="-350520" lvl="2" marL="1371600" rtl="0" algn="l">
              <a:spcBef>
                <a:spcPts val="0"/>
              </a:spcBef>
              <a:spcAft>
                <a:spcPts val="0"/>
              </a:spcAft>
              <a:buSzPts val="1920"/>
              <a:buChar char="•"/>
            </a:pPr>
            <a:r>
              <a:rPr lang="pt-BR"/>
              <a:t>Obs: we are not applying voltage in this tests; five capacitors are under tests.</a:t>
            </a:r>
            <a:endParaRPr/>
          </a:p>
        </p:txBody>
      </p:sp>
      <p:sp>
        <p:nvSpPr>
          <p:cNvPr id="150" name="Google Shape;150;p13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Accelerated testing: methods</a:t>
            </a:r>
            <a:endParaRPr/>
          </a:p>
        </p:txBody>
      </p:sp>
      <p:sp>
        <p:nvSpPr>
          <p:cNvPr id="157" name="Google Shape;157;p14"/>
          <p:cNvSpPr txBox="1"/>
          <p:nvPr>
            <p:ph idx="1" type="body"/>
          </p:nvPr>
        </p:nvSpPr>
        <p:spPr>
          <a:xfrm>
            <a:off x="382275" y="1065225"/>
            <a:ext cx="11439900" cy="492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0520" lvl="1" marL="914400" rtl="0" algn="l">
              <a:spcBef>
                <a:spcPts val="500"/>
              </a:spcBef>
              <a:spcAft>
                <a:spcPts val="0"/>
              </a:spcAft>
              <a:buSzPts val="1920"/>
              <a:buChar char="o"/>
            </a:pPr>
            <a:r>
              <a:rPr lang="pt-BR"/>
              <a:t>Electrical</a:t>
            </a:r>
            <a:r>
              <a:rPr lang="pt-BR"/>
              <a:t> stress - using a half bridge rectifier, we apply a semi-senoidal voltage of about 170 V (confirmar) and a ripple current of </a:t>
            </a:r>
            <a:r>
              <a:rPr lang="pt-BR"/>
              <a:t>approximately</a:t>
            </a:r>
            <a:r>
              <a:rPr lang="pt-BR"/>
              <a:t> 3,7A (confirmar). The </a:t>
            </a:r>
            <a:r>
              <a:rPr lang="pt-BR"/>
              <a:t>specimen</a:t>
            </a:r>
            <a:r>
              <a:rPr lang="pt-BR"/>
              <a:t> under test rested in a room with </a:t>
            </a:r>
            <a:r>
              <a:rPr lang="pt-BR"/>
              <a:t>controlled</a:t>
            </a:r>
            <a:r>
              <a:rPr lang="pt-BR"/>
              <a:t> temperature. Measurements of C and ESR are performed at intervals of approximately 48 hours. </a:t>
            </a:r>
            <a:endParaRPr/>
          </a:p>
          <a:p>
            <a:pPr indent="-350520" lvl="2" marL="1371600" rtl="0" algn="l">
              <a:spcBef>
                <a:spcPts val="0"/>
              </a:spcBef>
              <a:spcAft>
                <a:spcPts val="0"/>
              </a:spcAft>
              <a:buSzPts val="1920"/>
              <a:buChar char="•"/>
            </a:pPr>
            <a:r>
              <a:rPr lang="pt-BR"/>
              <a:t>Obs: we are not applying temperature changes in this tests, just one capacitor is under test</a:t>
            </a:r>
            <a:endParaRPr/>
          </a:p>
        </p:txBody>
      </p:sp>
      <p:sp>
        <p:nvSpPr>
          <p:cNvPr id="158" name="Google Shape;158;p14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Accelerated testing: </a:t>
            </a:r>
            <a:r>
              <a:rPr lang="pt-BR"/>
              <a:t>preliminary results (thermal)</a:t>
            </a:r>
            <a:endParaRPr/>
          </a:p>
        </p:txBody>
      </p:sp>
      <p:sp>
        <p:nvSpPr>
          <p:cNvPr id="165" name="Google Shape;165;p15"/>
          <p:cNvSpPr txBox="1"/>
          <p:nvPr>
            <p:ph idx="1" type="body"/>
          </p:nvPr>
        </p:nvSpPr>
        <p:spPr>
          <a:xfrm>
            <a:off x="382275" y="1065225"/>
            <a:ext cx="10964700" cy="492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66776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80000"/>
              <a:buChar char="o"/>
            </a:pPr>
            <a:r>
              <a:rPr lang="pt-BR"/>
              <a:t>Measurements of C and ESR are performed at 100 Hz, 120 Hz and 1 kHz using the xxx portable RLC and the yyy workbench RLC.</a:t>
            </a:r>
            <a:endParaRPr/>
          </a:p>
          <a:p>
            <a:pPr indent="-366776" lvl="0" marL="457200" rtl="0" algn="l">
              <a:spcBef>
                <a:spcPts val="0"/>
              </a:spcBef>
              <a:spcAft>
                <a:spcPts val="0"/>
              </a:spcAft>
              <a:buSzPct val="80000"/>
              <a:buChar char="o"/>
            </a:pPr>
            <a:r>
              <a:rPr lang="pt-BR"/>
              <a:t>Five measurements of each parameter are </a:t>
            </a:r>
            <a:r>
              <a:rPr lang="pt-BR"/>
              <a:t>performed for each frequency.</a:t>
            </a:r>
            <a:endParaRPr/>
          </a:p>
          <a:p>
            <a:pPr indent="-366776" lvl="0" marL="457200" rtl="0" algn="l">
              <a:spcBef>
                <a:spcPts val="0"/>
              </a:spcBef>
              <a:spcAft>
                <a:spcPts val="0"/>
              </a:spcAft>
              <a:buSzPct val="80000"/>
              <a:buChar char="o"/>
            </a:pPr>
            <a:r>
              <a:rPr lang="pt-BR"/>
              <a:t>At present time (after more than 3000 hours of esaie) </a:t>
            </a:r>
            <a:r>
              <a:rPr lang="pt-BR"/>
              <a:t> we can observe that the Capacitance doesn</a:t>
            </a:r>
            <a:r>
              <a:rPr lang="pt-BR"/>
              <a:t>'t presented any considerable reduction and ESR presented an </a:t>
            </a:r>
            <a:r>
              <a:rPr lang="pt-BR"/>
              <a:t>significant</a:t>
            </a:r>
            <a:r>
              <a:rPr lang="pt-BR"/>
              <a:t> increase. This is shown in the following graphics.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Note: only measurements did with workbench instrument are presented (we </a:t>
            </a:r>
            <a:r>
              <a:rPr lang="pt-BR"/>
              <a:t>consider</a:t>
            </a:r>
            <a:r>
              <a:rPr lang="pt-BR"/>
              <a:t> it more accurately).</a:t>
            </a:r>
            <a:endParaRPr/>
          </a:p>
        </p:txBody>
      </p:sp>
      <p:sp>
        <p:nvSpPr>
          <p:cNvPr id="166" name="Google Shape;166;p15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Accelerated testing: preliminary results (thermal)</a:t>
            </a:r>
            <a:endParaRPr/>
          </a:p>
        </p:txBody>
      </p:sp>
      <p:sp>
        <p:nvSpPr>
          <p:cNvPr id="173" name="Google Shape;173;p16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4" name="Google Shape;1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88" y="997107"/>
            <a:ext cx="10827876" cy="50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Accelerated testing: preliminary results (thermal)</a:t>
            </a:r>
            <a:endParaRPr/>
          </a:p>
        </p:txBody>
      </p:sp>
      <p:sp>
        <p:nvSpPr>
          <p:cNvPr id="181" name="Google Shape;181;p17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2" name="Google Shape;1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8137"/>
            <a:ext cx="11669625" cy="5116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Accelerated testing: preliminary results (thermal)</a:t>
            </a:r>
            <a:endParaRPr/>
          </a:p>
        </p:txBody>
      </p:sp>
      <p:sp>
        <p:nvSpPr>
          <p:cNvPr id="189" name="Google Shape;189;p18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0" name="Google Shape;1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025" y="957769"/>
            <a:ext cx="10566485" cy="5192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Accelerated testing: preliminary results (thermal)</a:t>
            </a:r>
            <a:endParaRPr/>
          </a:p>
        </p:txBody>
      </p:sp>
      <p:sp>
        <p:nvSpPr>
          <p:cNvPr id="197" name="Google Shape;197;p19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8" name="Google Shape;1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294" y="1043011"/>
            <a:ext cx="11463975" cy="506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Accelerated testing: preliminary results (thermal)</a:t>
            </a:r>
            <a:endParaRPr/>
          </a:p>
        </p:txBody>
      </p:sp>
      <p:sp>
        <p:nvSpPr>
          <p:cNvPr id="205" name="Google Shape;205;p20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6" name="Google Shape;2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67" y="1078592"/>
            <a:ext cx="11519038" cy="4889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Accelerated testing: preliminary results (thermal)</a:t>
            </a:r>
            <a:endParaRPr/>
          </a:p>
        </p:txBody>
      </p:sp>
      <p:sp>
        <p:nvSpPr>
          <p:cNvPr id="213" name="Google Shape;213;p21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4" name="Google Shape;2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3925"/>
            <a:ext cx="11410100" cy="510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Accelerated testing: preliminary results (electrical)</a:t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82275" y="1146066"/>
            <a:ext cx="11439600" cy="492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-366776" lvl="0" marL="45720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80000"/>
              <a:buChar char="o"/>
            </a:pPr>
            <a:r>
              <a:rPr lang="pt-BR"/>
              <a:t>Measurements of C and ESR are performed at 100 Hz, 120 Hz, 1 Kz and 10 kHz using the yyy workbench RLC.</a:t>
            </a:r>
            <a:endParaRPr/>
          </a:p>
          <a:p>
            <a:pPr indent="-366776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0000"/>
              <a:buChar char="o"/>
            </a:pPr>
            <a:r>
              <a:rPr lang="pt-BR"/>
              <a:t>Five measurements of each parameter are performed for each frequency.</a:t>
            </a:r>
            <a:endParaRPr/>
          </a:p>
          <a:p>
            <a:pPr indent="-366776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0000"/>
              <a:buChar char="o"/>
            </a:pPr>
            <a:r>
              <a:rPr lang="pt-BR"/>
              <a:t>At present time (after more than 1000 hours of esaie)  we can observe that neither Capacitance nor ESR presented any considerable reduction. This is shown in the following graphics.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Note: only measurements did with workbench instrument are presented.</a:t>
            </a:r>
            <a:endParaRPr/>
          </a:p>
        </p:txBody>
      </p:sp>
      <p:sp>
        <p:nvSpPr>
          <p:cNvPr id="222" name="Google Shape;222;p22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Accelerated testing: preliminary results (electrical)</a:t>
            </a:r>
            <a:endParaRPr/>
          </a:p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0" name="Google Shape;2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5125" y="989697"/>
            <a:ext cx="9872776" cy="502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Accelerated testing: preliminary results (electrical)</a:t>
            </a:r>
            <a:endParaRPr/>
          </a:p>
        </p:txBody>
      </p:sp>
      <p:sp>
        <p:nvSpPr>
          <p:cNvPr id="237" name="Google Shape;237;p24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8" name="Google Shape;2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021" y="935800"/>
            <a:ext cx="9569568" cy="5241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Accelerated testing: preliminary results (electrical)</a:t>
            </a:r>
            <a:endParaRPr/>
          </a:p>
        </p:txBody>
      </p:sp>
      <p:sp>
        <p:nvSpPr>
          <p:cNvPr id="245" name="Google Shape;245;p25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46" name="Google Shape;2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012" y="962750"/>
            <a:ext cx="10021025" cy="507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Accelerated testing: preliminary results (electrical)</a:t>
            </a:r>
            <a:endParaRPr/>
          </a:p>
        </p:txBody>
      </p:sp>
      <p:sp>
        <p:nvSpPr>
          <p:cNvPr id="253" name="Google Shape;253;p26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4" name="Google Shape;2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700" y="962750"/>
            <a:ext cx="10281425" cy="507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Variable capacitance test: methods</a:t>
            </a:r>
            <a:endParaRPr/>
          </a:p>
        </p:txBody>
      </p:sp>
      <p:sp>
        <p:nvSpPr>
          <p:cNvPr id="261" name="Google Shape;261;p27"/>
          <p:cNvSpPr txBox="1"/>
          <p:nvPr>
            <p:ph idx="1" type="body"/>
          </p:nvPr>
        </p:nvSpPr>
        <p:spPr>
          <a:xfrm>
            <a:off x="382275" y="1065225"/>
            <a:ext cx="11439900" cy="492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1160" lvl="0" marL="457200" rtl="0" algn="l">
              <a:spcBef>
                <a:spcPts val="1000"/>
              </a:spcBef>
              <a:spcAft>
                <a:spcPts val="0"/>
              </a:spcAft>
              <a:buSzPts val="2560"/>
              <a:buChar char="o"/>
            </a:pPr>
            <a:r>
              <a:rPr lang="pt-BR"/>
              <a:t>Neste slide, descrição bem breve da jiga, da bancada, e do planejamento dos testes com a capacit</a:t>
            </a:r>
            <a:r>
              <a:rPr lang="pt-BR"/>
              <a:t>ância</a:t>
            </a:r>
            <a:endParaRPr/>
          </a:p>
          <a:p>
            <a:pPr indent="-391160" lvl="0" marL="457200" rtl="0" algn="l">
              <a:spcBef>
                <a:spcPts val="0"/>
              </a:spcBef>
              <a:spcAft>
                <a:spcPts val="0"/>
              </a:spcAft>
              <a:buSzPts val="2560"/>
              <a:buChar char="o"/>
            </a:pPr>
            <a:r>
              <a:rPr lang="pt-BR"/>
              <a:t>Descrever também quais features vão ser avaliadas inicialmente</a:t>
            </a:r>
            <a:endParaRPr/>
          </a:p>
        </p:txBody>
      </p:sp>
      <p:sp>
        <p:nvSpPr>
          <p:cNvPr id="262" name="Google Shape;262;p27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Variable capacitance test</a:t>
            </a:r>
            <a:r>
              <a:rPr lang="pt-BR"/>
              <a:t>: preliminary results</a:t>
            </a:r>
            <a:endParaRPr/>
          </a:p>
        </p:txBody>
      </p:sp>
      <p:sp>
        <p:nvSpPr>
          <p:cNvPr id="269" name="Google Shape;269;p28"/>
          <p:cNvSpPr txBox="1"/>
          <p:nvPr>
            <p:ph idx="1" type="body"/>
          </p:nvPr>
        </p:nvSpPr>
        <p:spPr>
          <a:xfrm>
            <a:off x="382275" y="1065225"/>
            <a:ext cx="5296800" cy="492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1160" lvl="0" marL="457200" rtl="0" algn="l">
              <a:spcBef>
                <a:spcPts val="1000"/>
              </a:spcBef>
              <a:spcAft>
                <a:spcPts val="0"/>
              </a:spcAft>
              <a:buSzPts val="2560"/>
              <a:buChar char="o"/>
            </a:pPr>
            <a:r>
              <a:rPr lang="pt-BR"/>
              <a:t>Aqui observações e análises sobre os resultados no tempo</a:t>
            </a:r>
            <a:endParaRPr/>
          </a:p>
        </p:txBody>
      </p:sp>
      <p:sp>
        <p:nvSpPr>
          <p:cNvPr id="270" name="Google Shape;270;p28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1" name="Google Shape;271;p28"/>
          <p:cNvSpPr txBox="1"/>
          <p:nvPr/>
        </p:nvSpPr>
        <p:spPr>
          <a:xfrm>
            <a:off x="5814175" y="970125"/>
            <a:ext cx="6007800" cy="502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AQUI ALGUNS GR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ÁFICOS NO TEMPO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Variable capacitance test: preliminary results</a:t>
            </a:r>
            <a:endParaRPr/>
          </a:p>
        </p:txBody>
      </p:sp>
      <p:sp>
        <p:nvSpPr>
          <p:cNvPr id="278" name="Google Shape;278;p29"/>
          <p:cNvSpPr txBox="1"/>
          <p:nvPr>
            <p:ph idx="1" type="body"/>
          </p:nvPr>
        </p:nvSpPr>
        <p:spPr>
          <a:xfrm>
            <a:off x="382275" y="1065225"/>
            <a:ext cx="5296800" cy="492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1160" lvl="0" marL="457200" rtl="0" algn="l">
              <a:spcBef>
                <a:spcPts val="1000"/>
              </a:spcBef>
              <a:spcAft>
                <a:spcPts val="0"/>
              </a:spcAft>
              <a:buSzPts val="2560"/>
              <a:buChar char="o"/>
            </a:pPr>
            <a:r>
              <a:rPr lang="pt-BR"/>
              <a:t>Aqui observações e análises sobre a correlaç</a:t>
            </a:r>
            <a:r>
              <a:rPr lang="pt-BR"/>
              <a:t>ão</a:t>
            </a:r>
            <a:endParaRPr/>
          </a:p>
        </p:txBody>
      </p:sp>
      <p:sp>
        <p:nvSpPr>
          <p:cNvPr id="279" name="Google Shape;279;p29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0" name="Google Shape;280;p29"/>
          <p:cNvSpPr txBox="1"/>
          <p:nvPr/>
        </p:nvSpPr>
        <p:spPr>
          <a:xfrm>
            <a:off x="5814175" y="970125"/>
            <a:ext cx="6007800" cy="502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AQUI CORRELAÇ</a:t>
            </a: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ÃO DE FEATURES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Preliminary results and challenges</a:t>
            </a:r>
            <a:endParaRPr/>
          </a:p>
        </p:txBody>
      </p:sp>
      <p:sp>
        <p:nvSpPr>
          <p:cNvPr id="287" name="Google Shape;287;p30"/>
          <p:cNvSpPr txBox="1"/>
          <p:nvPr>
            <p:ph idx="1" type="body"/>
          </p:nvPr>
        </p:nvSpPr>
        <p:spPr>
          <a:xfrm>
            <a:off x="382275" y="906600"/>
            <a:ext cx="6510900" cy="527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00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b="1" lang="pt-BR"/>
              <a:t>Machine learning tools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pt-BR"/>
              <a:t>Results:</a:t>
            </a:r>
            <a:endParaRPr/>
          </a:p>
          <a:p>
            <a:pPr indent="-160274" lvl="0" marL="269999" rtl="0" algn="l">
              <a:spcBef>
                <a:spcPts val="1000"/>
              </a:spcBef>
              <a:spcAft>
                <a:spcPts val="0"/>
              </a:spcAft>
              <a:buSzPct val="80000"/>
              <a:buChar char="o"/>
            </a:pPr>
            <a:r>
              <a:rPr lang="pt-BR"/>
              <a:t>More than 20 models evaluated using external DAQ</a:t>
            </a:r>
            <a:endParaRPr/>
          </a:p>
          <a:p>
            <a:pPr indent="-160274" lvl="0" marL="269999" rtl="0" algn="l">
              <a:spcBef>
                <a:spcPts val="0"/>
              </a:spcBef>
              <a:spcAft>
                <a:spcPts val="0"/>
              </a:spcAft>
              <a:buSzPct val="80000"/>
              <a:buChar char="o"/>
            </a:pPr>
            <a:r>
              <a:rPr lang="pt-BR"/>
              <a:t>Three lines of research:</a:t>
            </a:r>
            <a:endParaRPr/>
          </a:p>
          <a:p>
            <a:pPr indent="-169418" lvl="1" marL="540000" rtl="0" algn="l">
              <a:spcBef>
                <a:spcPts val="0"/>
              </a:spcBef>
              <a:spcAft>
                <a:spcPts val="0"/>
              </a:spcAft>
              <a:buSzPct val="85882"/>
              <a:buChar char="o"/>
            </a:pPr>
            <a:r>
              <a:rPr lang="pt-BR" sz="3400"/>
              <a:t>Only statistical features (RMS, peak to peak, etc.)</a:t>
            </a:r>
            <a:endParaRPr sz="3400"/>
          </a:p>
          <a:p>
            <a:pPr indent="-169418" lvl="1" marL="540000" rtl="0" algn="l">
              <a:spcBef>
                <a:spcPts val="0"/>
              </a:spcBef>
              <a:spcAft>
                <a:spcPts val="0"/>
              </a:spcAft>
              <a:buSzPct val="85882"/>
              <a:buChar char="o"/>
            </a:pPr>
            <a:r>
              <a:rPr lang="pt-BR" sz="3400"/>
              <a:t>Statistical + frequency analysis</a:t>
            </a:r>
            <a:endParaRPr sz="3400"/>
          </a:p>
          <a:p>
            <a:pPr indent="-169418" lvl="1" marL="540000" rtl="0" algn="l">
              <a:spcBef>
                <a:spcPts val="0"/>
              </a:spcBef>
              <a:spcAft>
                <a:spcPts val="0"/>
              </a:spcAft>
              <a:buSzPct val="85882"/>
              <a:buChar char="o"/>
            </a:pPr>
            <a:r>
              <a:rPr lang="pt-BR" sz="3400"/>
              <a:t>Statistical + frequency + time series data</a:t>
            </a:r>
            <a:endParaRPr sz="3400"/>
          </a:p>
          <a:p>
            <a:pPr indent="-160274" lvl="0" marL="269999" rtl="0" algn="l">
              <a:spcBef>
                <a:spcPts val="0"/>
              </a:spcBef>
              <a:spcAft>
                <a:spcPts val="0"/>
              </a:spcAft>
              <a:buSzPct val="80000"/>
              <a:buChar char="o"/>
            </a:pPr>
            <a:r>
              <a:rPr lang="pt-BR"/>
              <a:t>Best results obtained using feedforward neural networks (approx. 1% mean error), but high uncertainty</a:t>
            </a:r>
            <a:endParaRPr/>
          </a:p>
          <a:p>
            <a:pPr indent="-160274" lvl="0" marL="269999" rtl="0" algn="l">
              <a:spcBef>
                <a:spcPts val="0"/>
              </a:spcBef>
              <a:spcAft>
                <a:spcPts val="0"/>
              </a:spcAft>
              <a:buSzPct val="80000"/>
              <a:buChar char="o"/>
            </a:pPr>
            <a:r>
              <a:rPr lang="pt-BR"/>
              <a:t>Unknown whether the results extrapolate to different scenarios (series resistance, grid impedance, etc.)</a:t>
            </a:r>
            <a:endParaRPr/>
          </a:p>
          <a:p>
            <a:pPr indent="-160274" lvl="0" marL="269999" rtl="0" algn="l">
              <a:spcBef>
                <a:spcPts val="0"/>
              </a:spcBef>
              <a:spcAft>
                <a:spcPts val="0"/>
              </a:spcAft>
              <a:buSzPct val="80000"/>
              <a:buChar char="o"/>
            </a:pPr>
            <a:r>
              <a:rPr lang="pt-BR"/>
              <a:t>Can detect if a capacitor has degraded, but can’t predict remaining useful life yet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/>
              <a:t>Possible solutions:</a:t>
            </a:r>
            <a:endParaRPr/>
          </a:p>
          <a:p>
            <a:pPr indent="-155024" lvl="0" marL="269999" rtl="0" algn="l">
              <a:spcBef>
                <a:spcPts val="1000"/>
              </a:spcBef>
              <a:spcAft>
                <a:spcPts val="0"/>
              </a:spcAft>
              <a:buSzPct val="80000"/>
              <a:buChar char="o"/>
            </a:pPr>
            <a:r>
              <a:rPr lang="pt-BR"/>
              <a:t>Improve ML models and experimental jig</a:t>
            </a:r>
            <a:endParaRPr/>
          </a:p>
          <a:p>
            <a:pPr indent="-155024" lvl="0" marL="269999" rtl="0" algn="l">
              <a:spcBef>
                <a:spcPts val="0"/>
              </a:spcBef>
              <a:spcAft>
                <a:spcPts val="0"/>
              </a:spcAft>
              <a:buSzPct val="80000"/>
              <a:buChar char="o"/>
            </a:pPr>
            <a:r>
              <a:rPr lang="pt-BR"/>
              <a:t>Use simulations to expand dataset and evaluate different parameters</a:t>
            </a:r>
            <a:endParaRPr/>
          </a:p>
          <a:p>
            <a:pPr indent="-155024" lvl="0" marL="269999" rtl="0" algn="l">
              <a:spcBef>
                <a:spcPts val="0"/>
              </a:spcBef>
              <a:spcAft>
                <a:spcPts val="0"/>
              </a:spcAft>
              <a:buSzPct val="80000"/>
              <a:buChar char="o"/>
            </a:pPr>
            <a:r>
              <a:rPr lang="pt-BR"/>
              <a:t>Measure capacitance during endurance tests and develop a </a:t>
            </a:r>
            <a:r>
              <a:rPr lang="pt-BR"/>
              <a:t>jig with aged capacitors</a:t>
            </a:r>
            <a:r>
              <a:rPr lang="pt-BR"/>
              <a:t> to estimate remaining useful life</a:t>
            </a:r>
            <a:endParaRPr/>
          </a:p>
        </p:txBody>
      </p:sp>
      <p:sp>
        <p:nvSpPr>
          <p:cNvPr id="288" name="Google Shape;288;p30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9" name="Google Shape;28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7075" y="1088025"/>
            <a:ext cx="4651200" cy="260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 title="capacitance_scatter_plot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3425" y="3809283"/>
            <a:ext cx="3758499" cy="2264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"/>
          <p:cNvSpPr txBox="1"/>
          <p:nvPr>
            <p:ph type="title"/>
          </p:nvPr>
        </p:nvSpPr>
        <p:spPr>
          <a:xfrm>
            <a:off x="382274" y="29147"/>
            <a:ext cx="10705800" cy="781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Project timeline - future activities</a:t>
            </a:r>
            <a:endParaRPr/>
          </a:p>
        </p:txBody>
      </p:sp>
      <p:sp>
        <p:nvSpPr>
          <p:cNvPr id="297" name="Google Shape;297;p31"/>
          <p:cNvSpPr txBox="1"/>
          <p:nvPr>
            <p:ph idx="12" type="sldNum"/>
          </p:nvPr>
        </p:nvSpPr>
        <p:spPr>
          <a:xfrm>
            <a:off x="9078813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8" name="Google Shape;298;p31"/>
          <p:cNvSpPr/>
          <p:nvPr/>
        </p:nvSpPr>
        <p:spPr>
          <a:xfrm>
            <a:off x="2819725" y="3690125"/>
            <a:ext cx="2839500" cy="5130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Improved experimental tests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5558575" y="3690100"/>
            <a:ext cx="2582400" cy="513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Solution development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7989500" y="3686656"/>
            <a:ext cx="2140500" cy="5130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Model embedding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31"/>
          <p:cNvSpPr txBox="1"/>
          <p:nvPr/>
        </p:nvSpPr>
        <p:spPr>
          <a:xfrm>
            <a:off x="571914" y="3358555"/>
            <a:ext cx="93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/2025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31"/>
          <p:cNvSpPr txBox="1"/>
          <p:nvPr/>
        </p:nvSpPr>
        <p:spPr>
          <a:xfrm>
            <a:off x="2720220" y="3368858"/>
            <a:ext cx="93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03/2026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31"/>
          <p:cNvSpPr txBox="1"/>
          <p:nvPr/>
        </p:nvSpPr>
        <p:spPr>
          <a:xfrm>
            <a:off x="5558564" y="3358555"/>
            <a:ext cx="93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06/2026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4" name="Google Shape;304;p31"/>
          <p:cNvCxnSpPr/>
          <p:nvPr/>
        </p:nvCxnSpPr>
        <p:spPr>
          <a:xfrm>
            <a:off x="2824939" y="1606426"/>
            <a:ext cx="1500" cy="183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1"/>
          <p:cNvCxnSpPr/>
          <p:nvPr/>
        </p:nvCxnSpPr>
        <p:spPr>
          <a:xfrm>
            <a:off x="481850" y="2229975"/>
            <a:ext cx="22500" cy="1200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31"/>
          <p:cNvSpPr txBox="1"/>
          <p:nvPr/>
        </p:nvSpPr>
        <p:spPr>
          <a:xfrm>
            <a:off x="590500" y="2305475"/>
            <a:ext cx="21405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0000" spcFirstLastPara="1" rIns="91425" wrap="square" tIns="91425">
            <a:noAutofit/>
          </a:bodyPr>
          <a:lstStyle/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Controlled resistance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Wider capacitance range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capacitance measurement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31"/>
          <p:cNvSpPr txBox="1"/>
          <p:nvPr/>
        </p:nvSpPr>
        <p:spPr>
          <a:xfrm>
            <a:off x="382302" y="950125"/>
            <a:ext cx="2481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Team: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LIAE: 2 senior researchers</a:t>
            </a:r>
            <a:b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2 undergraduates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Nidec: ?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504275" y="3686651"/>
            <a:ext cx="2435700" cy="5130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Improved test jig design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2936375" y="4459626"/>
            <a:ext cx="3994800" cy="365100"/>
          </a:xfrm>
          <a:prstGeom prst="chevron">
            <a:avLst>
              <a:gd fmla="val 50000" name="adj"/>
            </a:avLst>
          </a:prstGeom>
          <a:solidFill>
            <a:srgbClr val="E38933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Aged capacitor jig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2863900" y="3065574"/>
            <a:ext cx="4067400" cy="3651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High-fidelity simulation model development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31"/>
          <p:cNvSpPr/>
          <p:nvPr/>
        </p:nvSpPr>
        <p:spPr>
          <a:xfrm rot="-2700000">
            <a:off x="6547561" y="4287780"/>
            <a:ext cx="589727" cy="384808"/>
          </a:xfrm>
          <a:prstGeom prst="chevron">
            <a:avLst>
              <a:gd fmla="val 50000" name="adj"/>
            </a:avLst>
          </a:prstGeom>
          <a:solidFill>
            <a:srgbClr val="E38933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31"/>
          <p:cNvSpPr/>
          <p:nvPr/>
        </p:nvSpPr>
        <p:spPr>
          <a:xfrm rot="2700000">
            <a:off x="6536367" y="3225980"/>
            <a:ext cx="589727" cy="384808"/>
          </a:xfrm>
          <a:prstGeom prst="chevron">
            <a:avLst>
              <a:gd fmla="val 50000" name="adj"/>
            </a:avLst>
          </a:prstGeom>
          <a:solidFill>
            <a:srgbClr val="E38933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31"/>
          <p:cNvSpPr txBox="1"/>
          <p:nvPr/>
        </p:nvSpPr>
        <p:spPr>
          <a:xfrm>
            <a:off x="7989489" y="3303053"/>
            <a:ext cx="93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/2026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9964600" y="3690106"/>
            <a:ext cx="1857300" cy="513000"/>
          </a:xfrm>
          <a:prstGeom prst="chevron">
            <a:avLst>
              <a:gd fmla="val 50000" name="adj"/>
            </a:avLst>
          </a:prstGeom>
          <a:solidFill>
            <a:schemeClr val="dk2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Final validation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9964598" y="3303050"/>
            <a:ext cx="79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r>
              <a:rPr lang="pt-BR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/2027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2936375" y="1309699"/>
            <a:ext cx="3742200" cy="16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0000" spcFirstLastPara="1" rIns="91425" wrap="square" tIns="91425">
            <a:noAutofit/>
          </a:bodyPr>
          <a:lstStyle/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embedded acquisition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Wider range of test conditions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models to evaluate influence of external factors which are hard to replicate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Aged capacitor jig to evaluate real capacitors and correlate capacitance and remaining useful life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7" name="Google Shape;317;p31"/>
          <p:cNvCxnSpPr/>
          <p:nvPr/>
        </p:nvCxnSpPr>
        <p:spPr>
          <a:xfrm>
            <a:off x="7146775" y="4394975"/>
            <a:ext cx="0" cy="871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31"/>
          <p:cNvCxnSpPr/>
          <p:nvPr/>
        </p:nvCxnSpPr>
        <p:spPr>
          <a:xfrm>
            <a:off x="8004075" y="2837750"/>
            <a:ext cx="7800" cy="592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31"/>
          <p:cNvSpPr txBox="1"/>
          <p:nvPr/>
        </p:nvSpPr>
        <p:spPr>
          <a:xfrm>
            <a:off x="8049500" y="2709215"/>
            <a:ext cx="2351400" cy="68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80000" spcFirstLastPara="1" rIns="91425" wrap="square" tIns="91425">
            <a:noAutofit/>
          </a:bodyPr>
          <a:lstStyle/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 model for embedding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Modify firmware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0" name="Google Shape;320;p31"/>
          <p:cNvCxnSpPr/>
          <p:nvPr/>
        </p:nvCxnSpPr>
        <p:spPr>
          <a:xfrm>
            <a:off x="9964588" y="4403823"/>
            <a:ext cx="900" cy="47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31"/>
          <p:cNvSpPr txBox="1"/>
          <p:nvPr/>
        </p:nvSpPr>
        <p:spPr>
          <a:xfrm>
            <a:off x="9995300" y="4276300"/>
            <a:ext cx="20205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91425" wrap="square" tIns="91425">
            <a:noAutofit/>
          </a:bodyPr>
          <a:lstStyle/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 model in endurance tests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31"/>
          <p:cNvSpPr txBox="1"/>
          <p:nvPr/>
        </p:nvSpPr>
        <p:spPr>
          <a:xfrm>
            <a:off x="7262024" y="4305275"/>
            <a:ext cx="2662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model development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evaluation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89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pt-B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model with simulation and experimental data</a:t>
            </a:r>
            <a:endParaRPr/>
          </a:p>
        </p:txBody>
      </p:sp>
      <p:sp>
        <p:nvSpPr>
          <p:cNvPr id="323" name="Google Shape;323;p31"/>
          <p:cNvSpPr txBox="1"/>
          <p:nvPr/>
        </p:nvSpPr>
        <p:spPr>
          <a:xfrm>
            <a:off x="182200" y="4513875"/>
            <a:ext cx="2662500" cy="148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AQUI FOTO DA NOVA JIGA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" name="Google Shape;324;p31" title="jiga_soldada (3).jpeg"/>
          <p:cNvPicPr preferRelativeResize="0"/>
          <p:nvPr/>
        </p:nvPicPr>
        <p:blipFill rotWithShape="1">
          <a:blip r:embed="rId3">
            <a:alphaModFix/>
          </a:blip>
          <a:srcRect b="8299" l="16195" r="14504" t="4524"/>
          <a:stretch/>
        </p:blipFill>
        <p:spPr>
          <a:xfrm rot="-5400000">
            <a:off x="660562" y="3910974"/>
            <a:ext cx="1698677" cy="26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2"/>
          <p:cNvSpPr txBox="1"/>
          <p:nvPr>
            <p:ph type="title"/>
          </p:nvPr>
        </p:nvSpPr>
        <p:spPr>
          <a:xfrm>
            <a:off x="1547795" y="3911344"/>
            <a:ext cx="9090300" cy="645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Thank you</a:t>
            </a:r>
            <a:endParaRPr/>
          </a:p>
        </p:txBody>
      </p:sp>
      <p:sp>
        <p:nvSpPr>
          <p:cNvPr id="331" name="Google Shape;331;p32"/>
          <p:cNvSpPr txBox="1"/>
          <p:nvPr>
            <p:ph idx="1" type="subTitle"/>
          </p:nvPr>
        </p:nvSpPr>
        <p:spPr>
          <a:xfrm>
            <a:off x="1524000" y="5084583"/>
            <a:ext cx="9144000" cy="90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2"/>
          <p:cNvSpPr txBox="1"/>
          <p:nvPr>
            <p:ph idx="10" type="dt"/>
          </p:nvPr>
        </p:nvSpPr>
        <p:spPr>
          <a:xfrm>
            <a:off x="4721400" y="6498329"/>
            <a:ext cx="2743200" cy="36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Personalizada 7">
      <a:dk1>
        <a:srgbClr val="000000"/>
      </a:dk1>
      <a:lt1>
        <a:srgbClr val="FFFFFF"/>
      </a:lt1>
      <a:dk2>
        <a:srgbClr val="294085"/>
      </a:dk2>
      <a:lt2>
        <a:srgbClr val="E7E6E6"/>
      </a:lt2>
      <a:accent1>
        <a:srgbClr val="E38933"/>
      </a:accent1>
      <a:accent2>
        <a:srgbClr val="294085"/>
      </a:accent2>
      <a:accent3>
        <a:srgbClr val="A5A5A5"/>
      </a:accent3>
      <a:accent4>
        <a:srgbClr val="FFC000"/>
      </a:accent4>
      <a:accent5>
        <a:srgbClr val="ED7D31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